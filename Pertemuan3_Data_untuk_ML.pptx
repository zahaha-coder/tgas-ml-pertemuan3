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8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862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 P3. Tekankan: pertemuan ini banyak praktik. Model tak akan bagus tanpa data yang disiapkan dengan benar.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Sambungkan: setelah tahu apa yang mau diprediksi (framing), kita butuh data yang tepat &amp; bersih.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 pertemuan. Inti praktik: pipeline penyiapan data dengan pandas &amp; scikit-learn.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Kontrak belajar. Cek ketiganya di akhir sesi.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Bangun kesadaran: bagian tersulit &amp; paling menyita waktu di proyek ML adalah menyiapkan data, bukan melatih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Kaitkan ke istilah pertemuan 1 (fitur &amp; label). Ini bentuk data 'terstruktur' yang paling umum.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Bedakan numerik vs kategorikal, dan di kategorikal bedakan nominal vs ordinal. Penting untuk memilih cara encoding nanti.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menebak dampak tiap masalah ke model. Ini memotivasi langkah pembersihan berikutnya.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kerangka besar penyiapan data. Empat langkah berikutnya kita bahas dengan contoh angka.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perhitungan min-max langkah demi langkah. Sebut kapan pakai min-max vs z-score.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One-hot untuk nominal; ordinal encoding untuk yang berurutan. Ingatkan risiko 'too many columns' bila kategori sangat banyak.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engineering butuh pemahaman domain. Beri contoh dari bidang mahasiswa.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konsep yang sering diabaikan pemula. Tekankan bahaya kebocoran data (data leakage) dengan contoh konkret.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Bahas leakage paling detail. Cara mencegah: pisahkan data uji sejak awal, dan pastikan fitur hanya memakai info yang tersedia saat prediksi.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Dorong kebiasaan eksplorasi data (EDA) sebelum modeling. Ini menyambung langsung ke praktik.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Mulai sesi praktik. Pastikan mahasiswa sudah menyiapkan Colab/Jupyter. Jalankan kode bersama-sama.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tiap baris. fillna mengisi data kosong; dropna membuang baris tanpa label. Minta mahasiswa mengamati output describe().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get_dummies = one-hot. fit_transform menghitung min/max lalu menormalkan. Tekankan: X berisi fitur, y berisi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Tugas ini adalah penilaian 'Laporan Praktikum-1' sesuai RPS. Ingatkan format &amp; tenggat, dan bahwa datasetnya akan dipakai lagi di pertemuan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Cek pemahaman: minta mahasiswa menyebut 4 langkah penyiapan data &amp; satu contoh data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Tutup. Ingatkan tugas &amp; bahwa pertemuan depan kita bangun model pertama: regresi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3840480" cy="3840480"/>
          </a:xfrm>
          <a:prstGeom prst="ellipse">
            <a:avLst/>
          </a:prstGeom>
          <a:solidFill>
            <a:srgbClr val="6E56C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1FC7B0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1920240"/>
            <a:ext cx="2651760" cy="2651760"/>
          </a:xfrm>
          <a:prstGeom prst="ellipse">
            <a:avLst/>
          </a:prstGeom>
          <a:solidFill>
            <a:srgbClr val="252A57"/>
          </a:solidFill>
          <a:ln w="19050">
            <a:solidFill>
              <a:srgbClr val="6E56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633472"/>
            <a:ext cx="1225296" cy="12252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600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MACHINE LEARNING · PERTEMUAN 3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1168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untuk</a:t>
            </a:r>
            <a:endParaRPr lang="en-US" sz="4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&amp; merekayasa data — dan menghindari jebakannya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41248" y="4709160"/>
            <a:ext cx="2926080" cy="0"/>
          </a:xfrm>
          <a:prstGeom prst="line">
            <a:avLst/>
          </a:prstGeom>
          <a:noFill/>
          <a:ln w="25400">
            <a:solidFill>
              <a:srgbClr val="6E56C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4937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9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Informatika  ·  Semester V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</a:t>
            </a:r>
            <a:r>
              <a:rPr lang="en-US" sz="1300" dirty="0" err="1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Pengampu</a:t>
            </a:r>
            <a:r>
              <a:rPr lang="en-US" sz="13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Dr. Wagino, S.Kom.,</a:t>
            </a:r>
            <a:r>
              <a:rPr lang="en-US" sz="1300" err="1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30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.Kom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MENYAMBUNG PERTEMUAN 1-2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Kilas balik &amp; fokus hari ini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731520" cy="731520"/>
          </a:xfrm>
          <a:prstGeom prst="ellipse">
            <a:avLst/>
          </a:prstGeom>
          <a:solidFill>
            <a:srgbClr val="6B708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3042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sudah kita pelajari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20040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Machine Learning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merumuskan masalah (framing)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85232" cy="3840480"/>
          </a:xfrm>
          <a:prstGeom prst="roundRect">
            <a:avLst>
              <a:gd name="adj" fmla="val 2857"/>
            </a:avLst>
          </a:prstGeom>
          <a:solidFill>
            <a:srgbClr val="181C3A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7512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60604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Sekarang kita siapkan DATA — bahan bakar utama sebuah model ML.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43434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rapi &amp; bersih adalah setengah dari keberhasilan model.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PERTEMUAN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akan kita pelajari hari ini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58568"/>
            <a:ext cx="914400" cy="914400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386584"/>
            <a:ext cx="658368" cy="658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2240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Mengenal &amp; jenis data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8072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Numerik, kategorikal, &amp; masalah umum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4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281928" y="18745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01968" y="2258568"/>
            <a:ext cx="914400" cy="914400"/>
          </a:xfrm>
          <a:prstGeom prst="ellipse">
            <a:avLst/>
          </a:prstGeom>
          <a:solidFill>
            <a:srgbClr val="1FC7B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2386584"/>
            <a:ext cx="658368" cy="6583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99248" y="2240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Menyiapkan data</a:t>
            </a:r>
            <a:endParaRPr lang="en-US" sz="1750" dirty="0"/>
          </a:p>
        </p:txBody>
      </p:sp>
      <p:sp>
        <p:nvSpPr>
          <p:cNvPr id="14" name="Text 10"/>
          <p:cNvSpPr txBox="1"/>
          <p:nvPr/>
        </p:nvSpPr>
        <p:spPr>
          <a:xfrm>
            <a:off x="7699248" y="28072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Bersih → encoding → skala → fitur baru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0762488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4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40080" y="39319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4315968"/>
            <a:ext cx="914400" cy="9144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443984"/>
            <a:ext cx="658368" cy="6583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057400" y="42976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Jebakan data (data traps)</a:t>
            </a:r>
            <a:endParaRPr lang="en-US" sz="1750" dirty="0"/>
          </a:p>
        </p:txBody>
      </p:sp>
      <p:sp>
        <p:nvSpPr>
          <p:cNvPr id="20" name="Text 15"/>
          <p:cNvSpPr txBox="1"/>
          <p:nvPr/>
        </p:nvSpPr>
        <p:spPr>
          <a:xfrm>
            <a:off x="2057400" y="48646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yang diam-diam merusak model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5120640" y="4096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4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6281928" y="39319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01968" y="4315968"/>
            <a:ext cx="914400" cy="914400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4443984"/>
            <a:ext cx="658368" cy="6583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99248" y="42976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 &amp; tugas</a:t>
            </a:r>
            <a:endParaRPr lang="en-US" sz="1750" dirty="0"/>
          </a:p>
        </p:txBody>
      </p:sp>
      <p:sp>
        <p:nvSpPr>
          <p:cNvPr id="26" name="Text 20"/>
          <p:cNvSpPr txBox="1"/>
          <p:nvPr/>
        </p:nvSpPr>
        <p:spPr>
          <a:xfrm>
            <a:off x="7699248" y="48646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data nyata dengan Python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10762488" y="4096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4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2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PERTEMUAN INI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pembelajaran (Sub-CPMK 3)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mengikuti pertemuan ini, kamu diharapkan mampu: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0879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615184"/>
            <a:ext cx="603504" cy="603504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6151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331720"/>
            <a:ext cx="8439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data numerik &amp; kategorikal serta mengenali masalah data yang umum.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697480"/>
            <a:ext cx="438912" cy="4389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3758184"/>
            <a:ext cx="1090879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05840" y="4041648"/>
            <a:ext cx="603504" cy="603504"/>
          </a:xfrm>
          <a:prstGeom prst="ellipse">
            <a:avLst/>
          </a:prstGeom>
          <a:solidFill>
            <a:srgbClr val="1FC7B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4041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874520" y="3758184"/>
            <a:ext cx="8439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data: membersihkan, encoding, normalisasi, dan rekayasa fitur.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4123944"/>
            <a:ext cx="438912" cy="4389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" y="5184648"/>
            <a:ext cx="1090879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05840" y="5468112"/>
            <a:ext cx="603504" cy="60350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005840" y="54681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1874520" y="5184648"/>
            <a:ext cx="8439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dan menghindari jebakan data (data traps).</a:t>
            </a:r>
            <a:endParaRPr lang="en-US" sz="16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5550408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3840480" cy="3840480"/>
          </a:xfrm>
          <a:prstGeom prst="ellipse">
            <a:avLst/>
          </a:prstGeom>
          <a:solidFill>
            <a:srgbClr val="6E56C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1FC7B0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DATA ITU PENTING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8755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hanya sebaik data yang kita berikan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0908792" cy="960120"/>
          </a:xfrm>
          <a:prstGeom prst="roundRect">
            <a:avLst>
              <a:gd name="adj" fmla="val 11429"/>
            </a:avLst>
          </a:prstGeom>
          <a:solidFill>
            <a:srgbClr val="252A57"/>
          </a:solidFill>
          <a:ln w="12700">
            <a:solidFill>
              <a:srgbClr val="343A72"/>
            </a:solidFill>
            <a:prstDash val="solid"/>
          </a:ln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97280" y="224028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F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“Garbage in, garbage out”  </a:t>
            </a:r>
            <a:r>
              <a:rPr lang="en-US" sz="1600" i="1" dirty="0">
                <a:solidFill>
                  <a:srgbClr val="E9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data sampah menghasilkan prediksi sampah, sebagus apa pun algoritmanya.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252A57"/>
          </a:solidFill>
          <a:ln w="12700">
            <a:solidFill>
              <a:srgbClr val="343A72"/>
            </a:solidFill>
            <a:prstDash val="solid"/>
          </a:ln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9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proyek ML habis untuk menyiapkan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79976" y="35204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252A57"/>
          </a:solidFill>
          <a:ln w="12700">
            <a:solidFill>
              <a:srgbClr val="343A72"/>
            </a:solidFill>
            <a:prstDash val="solid"/>
          </a:ln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08576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&gt; Algoritma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9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bagus sering lebih penting dari model canggih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19872" y="35204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252A57"/>
          </a:solidFill>
          <a:ln w="12700">
            <a:solidFill>
              <a:srgbClr val="343A72"/>
            </a:solidFill>
            <a:prstDash val="solid"/>
          </a:ln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48472" y="38404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Konsisten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9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harus rapi, benar, dan relevan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 sebuah dataset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biasanya berbentuk tabel: setiap baris satu contoh, setiap kolom satu fitur, dan satu kolom khusus sebagai label (jawaban).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828800" cy="457200"/>
          </a:xfrm>
          <a:prstGeom prst="rect">
            <a:avLst/>
          </a:prstGeom>
          <a:solidFill>
            <a:srgbClr val="6E56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 (m2)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0" y="2514600"/>
            <a:ext cx="1828800" cy="457200"/>
          </a:xfrm>
          <a:prstGeom prst="rect">
            <a:avLst/>
          </a:prstGeom>
          <a:solidFill>
            <a:srgbClr val="6E56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2514600"/>
            <a:ext cx="2194560" cy="457200"/>
          </a:xfrm>
          <a:prstGeom prst="rect">
            <a:avLst/>
          </a:prstGeom>
          <a:solidFill>
            <a:srgbClr val="6E56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2514600"/>
            <a:ext cx="2011680" cy="457200"/>
          </a:xfrm>
          <a:prstGeom prst="rect">
            <a:avLst/>
          </a:prstGeom>
          <a:solidFill>
            <a:srgbClr val="0E9A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(jt)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468880" y="29718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6888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29718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Bandung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2971800"/>
            <a:ext cx="2011680" cy="457200"/>
          </a:xfrm>
          <a:prstGeom prst="rect">
            <a:avLst/>
          </a:prstGeom>
          <a:solidFill>
            <a:srgbClr val="E3F7F3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429000"/>
            <a:ext cx="1828800" cy="457200"/>
          </a:xfrm>
          <a:prstGeom prst="rect">
            <a:avLst/>
          </a:prstGeom>
          <a:solidFill>
            <a:srgbClr val="EFEB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468880" y="3429000"/>
            <a:ext cx="1828800" cy="457200"/>
          </a:xfrm>
          <a:prstGeom prst="rect">
            <a:avLst/>
          </a:prstGeom>
          <a:solidFill>
            <a:srgbClr val="EFEB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688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0" y="3429000"/>
            <a:ext cx="2194560" cy="457200"/>
          </a:xfrm>
          <a:prstGeom prst="rect">
            <a:avLst/>
          </a:prstGeom>
          <a:solidFill>
            <a:srgbClr val="EFEB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9768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92240" y="3429000"/>
            <a:ext cx="2011680" cy="457200"/>
          </a:xfrm>
          <a:prstGeom prst="rect">
            <a:avLst/>
          </a:prstGeom>
          <a:solidFill>
            <a:srgbClr val="E3F7F3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38862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468880" y="38862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6888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297680" y="38862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768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Bandung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92240" y="3886200"/>
            <a:ext cx="2011680" cy="457200"/>
          </a:xfrm>
          <a:prstGeom prst="rect">
            <a:avLst/>
          </a:prstGeom>
          <a:solidFill>
            <a:srgbClr val="E3F7F3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224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686800" y="3017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setiap baris = 1 contoh (data satu rumah)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4892040"/>
            <a:ext cx="5257800" cy="1051560"/>
          </a:xfrm>
          <a:prstGeom prst="roundRect">
            <a:avLst>
              <a:gd name="adj" fmla="val 10435"/>
            </a:avLst>
          </a:prstGeom>
          <a:solidFill>
            <a:srgbClr val="EFEBFB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1005840" y="48920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(feature): </a:t>
            </a: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masukan — luas, kamar, kota.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91072" y="4892040"/>
            <a:ext cx="5257800" cy="1051560"/>
          </a:xfrm>
          <a:prstGeom prst="roundRect">
            <a:avLst>
              <a:gd name="adj" fmla="val 10435"/>
            </a:avLst>
          </a:prstGeom>
          <a:solidFill>
            <a:srgbClr val="E3F7F3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656832" y="48920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</a:t>
            </a: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jawaban yang ingin diprediksi — harga.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jenis data yang utama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FEBFB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777240" cy="777240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4" y="2303374"/>
            <a:ext cx="559613" cy="55961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E5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Numerik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00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Berupa angka yang bisa dihitung.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7033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luas, umur, harga, suhu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dijumlah, dirata-rata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diperhatikan skalanya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91072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3F7F3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56832" y="2194560"/>
            <a:ext cx="777240" cy="777240"/>
          </a:xfrm>
          <a:prstGeom prst="ellipse">
            <a:avLst/>
          </a:prstGeom>
          <a:solidFill>
            <a:srgbClr val="1FC7B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646" y="2303374"/>
            <a:ext cx="559613" cy="55961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71232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9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Kategorikal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748272" y="3200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Berupa kategori / label.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793992" y="37033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kota, warna, ya/tidak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Nominal: tanpa urutan (kota)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berurutan (kecil&lt;sedang&lt;besar)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data yang sering muncul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93976"/>
            <a:ext cx="658368" cy="658368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128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574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kosong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53288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hilang / tidak terisi (missing).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021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093976"/>
            <a:ext cx="658368" cy="65836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128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20574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40680" y="253288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ekstrem yang menyimpang jauh.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021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2093976"/>
            <a:ext cx="658368" cy="658368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21284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20574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Duplikat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9144000" y="253288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yang sama tercatat berulang.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639312"/>
            <a:ext cx="35021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2688" y="3950208"/>
            <a:ext cx="658368" cy="65836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069080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391363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 seimbang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1737360" y="43891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kelas jauh lebih banyak (imbalance).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3639312"/>
            <a:ext cx="35021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3950208"/>
            <a:ext cx="658368" cy="658368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069080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40680" y="391363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berbeda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5440680" y="43891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antar kolom timpang (gaji vs umur).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3639312"/>
            <a:ext cx="35021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3950208"/>
            <a:ext cx="658368" cy="65836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069080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0" y="391363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salah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9144000" y="43891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ketik, satuan campur, huruf besar/kecil.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menyiapkan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240280"/>
            <a:ext cx="914400" cy="914400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6" y="2368296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89404" y="2194560"/>
            <a:ext cx="402336" cy="402336"/>
          </a:xfrm>
          <a:prstGeom prst="ellipse">
            <a:avLst/>
          </a:prstGeom>
          <a:solidFill>
            <a:srgbClr val="181C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89404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Bersihkan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84048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Tangani data kosong, outlier, duplikat.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227832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19856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65676" y="2240280"/>
            <a:ext cx="914400" cy="914400"/>
          </a:xfrm>
          <a:prstGeom prst="ellipse">
            <a:avLst/>
          </a:prstGeom>
          <a:solidFill>
            <a:srgbClr val="1FC7B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92" y="2368296"/>
            <a:ext cx="658368" cy="65836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69180" y="2194560"/>
            <a:ext cx="402336" cy="402336"/>
          </a:xfrm>
          <a:prstGeom prst="ellipse">
            <a:avLst/>
          </a:prstGeom>
          <a:solidFill>
            <a:srgbClr val="181C3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86918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602736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621024" y="384048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kategori jadi angka.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007608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199632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045452" y="2240280"/>
            <a:ext cx="914400" cy="914400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468" y="2368296"/>
            <a:ext cx="658368" cy="6583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648956" y="2194560"/>
            <a:ext cx="402336" cy="402336"/>
          </a:xfrm>
          <a:prstGeom prst="ellipse">
            <a:avLst/>
          </a:prstGeom>
          <a:solidFill>
            <a:srgbClr val="181C3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648956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382512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Normalisasi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0" y="384048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Samakan skala antar kolom numerik.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8787384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979408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825228" y="2240280"/>
            <a:ext cx="914400" cy="9144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3244" y="2368296"/>
            <a:ext cx="658368" cy="658368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0428732" y="2194560"/>
            <a:ext cx="402336" cy="402336"/>
          </a:xfrm>
          <a:prstGeom prst="ellipse">
            <a:avLst/>
          </a:prstGeom>
          <a:solidFill>
            <a:srgbClr val="181C3A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1042873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9162288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Rekayasa fitur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9180576" y="384048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fitur baru yang lebih bermakna.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DATA — CONTOH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Normalisasi &amp; standardisasi (numerik)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5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Kenapa perlu?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60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dengan rentang besar bisa “mendominasi” model. Normalisasi menyamakan skala agar adil.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5204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→ skala 0..1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rumus: (x − min) / (max − min)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 (z-score) → rata-rata 0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rumus: (x − mean) / std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82512" y="1828800"/>
            <a:ext cx="5166360" cy="3931920"/>
          </a:xfrm>
          <a:prstGeom prst="roundRect">
            <a:avLst>
              <a:gd name="adj" fmla="val 2791"/>
            </a:avLst>
          </a:prstGeom>
          <a:solidFill>
            <a:srgbClr val="EFEBFB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665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Min-Max pada [1, 5, 10]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66560" y="2697480"/>
            <a:ext cx="2194560" cy="457200"/>
          </a:xfrm>
          <a:prstGeom prst="rect">
            <a:avLst/>
          </a:prstGeom>
          <a:solidFill>
            <a:srgbClr val="6E56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asli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0" y="2697480"/>
            <a:ext cx="2286000" cy="457200"/>
          </a:xfrm>
          <a:prstGeom prst="rect">
            <a:avLst/>
          </a:prstGeom>
          <a:solidFill>
            <a:srgbClr val="6E56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(0..1)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66560" y="315468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61120" y="315468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3611880"/>
            <a:ext cx="2194560" cy="457200"/>
          </a:xfrm>
          <a:prstGeom prst="rect">
            <a:avLst/>
          </a:prstGeom>
          <a:solidFill>
            <a:srgbClr val="EFEB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61120" y="3611880"/>
            <a:ext cx="2286000" cy="457200"/>
          </a:xfrm>
          <a:prstGeom prst="rect">
            <a:avLst/>
          </a:prstGeom>
          <a:solidFill>
            <a:srgbClr val="EFEB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66560" y="406908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61120" y="406908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5074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= 1, max = 10  →  (5−1)/(10−1) = 0.44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DATA — CONTOH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data kategorikal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hanya paham angka. Kategori harus diubah menjadi angka — cara paling umum: one-hot encoding.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2103120" cy="457200"/>
          </a:xfrm>
          <a:prstGeom prst="rect">
            <a:avLst/>
          </a:prstGeom>
          <a:solidFill>
            <a:srgbClr val="6E56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Bandung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2103120" cy="457200"/>
          </a:xfrm>
          <a:prstGeom prst="rect">
            <a:avLst/>
          </a:prstGeom>
          <a:solidFill>
            <a:srgbClr val="EFEB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Bandung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 (one-hot)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2788920"/>
            <a:ext cx="2377440" cy="457200"/>
          </a:xfrm>
          <a:prstGeom prst="rect">
            <a:avLst/>
          </a:prstGeom>
          <a:solidFill>
            <a:srgbClr val="6E56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4904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kota_Bandung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2788920"/>
            <a:ext cx="2194560" cy="457200"/>
          </a:xfrm>
          <a:prstGeom prst="rect">
            <a:avLst/>
          </a:prstGeom>
          <a:solidFill>
            <a:srgbClr val="6E56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kota_Medan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49040" y="324612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4904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0" y="324612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2648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749040" y="3703320"/>
            <a:ext cx="2377440" cy="457200"/>
          </a:xfrm>
          <a:prstGeom prst="rect">
            <a:avLst/>
          </a:prstGeom>
          <a:solidFill>
            <a:srgbClr val="EFEB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4904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26480" y="3703320"/>
            <a:ext cx="2194560" cy="457200"/>
          </a:xfrm>
          <a:prstGeom prst="rect">
            <a:avLst/>
          </a:prstGeom>
          <a:solidFill>
            <a:srgbClr val="EFEBFB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749040" y="416052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4904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26480" y="416052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6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2648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778240" y="2514600"/>
            <a:ext cx="2770632" cy="2743200"/>
          </a:xfrm>
          <a:prstGeom prst="roundRect">
            <a:avLst>
              <a:gd name="adj" fmla="val 4000"/>
            </a:avLst>
          </a:prstGeom>
          <a:solidFill>
            <a:srgbClr val="EFEBFB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052560" y="27889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kategori berurutan: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kecil=1, sedang=2, besar=3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DATA — CONTOH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Rekayasa fitur (feature engineering)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777240" cy="7772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4" y="2257654"/>
            <a:ext cx="559613" cy="55961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fitur baru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1089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kolom baru dari data yang ada agar pola lebih mudah ditangkap model. Sering paling menentukan performa.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82512" y="1828800"/>
            <a:ext cx="5166360" cy="3931920"/>
          </a:xfrm>
          <a:prstGeom prst="roundRect">
            <a:avLst>
              <a:gd name="adj" fmla="val 2791"/>
            </a:avLst>
          </a:prstGeom>
          <a:solidFill>
            <a:srgbClr val="FFF7E9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2606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lahir → umur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panjang &amp; lebar → luas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transaksi → hari dalam minggu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&amp; jumlah → total belanja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3840480" cy="3840480"/>
          </a:xfrm>
          <a:prstGeom prst="ellipse">
            <a:avLst/>
          </a:prstGeom>
          <a:solidFill>
            <a:srgbClr val="6E56C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1FC7B0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JEBAKAN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05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traps: bagus saat latihan, gagal di dunia nyata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252A57"/>
          </a:solidFill>
          <a:ln w="12700">
            <a:solidFill>
              <a:srgbClr val="343A72"/>
            </a:solidFill>
            <a:prstDash val="solid"/>
          </a:ln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606040"/>
            <a:ext cx="640080" cy="6400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706624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20240" y="228600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Jebakan data adalah kesalahan tersembunyi pada data yang membuat model terlihat hebat di angka, tetapi keliru saat dipakai sungguhan.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93192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F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klasik: memakai “tanggal pelunasan” untuk memprediksi “gagal bayar” — padahal info itu belum ada saat prediksi dibuat.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Jebakan data yang umum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67128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2148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Kebocoran data (leakage)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6517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diam-diam ‘membocorkan’ jawaban. Akurasi palsu tinggi.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81928" y="187452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16712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33488" y="2148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tak mewakili (bias)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333488" y="26517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Sampel tidak mencerminkan kondisi nyata.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721608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14216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39959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salah / noisy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44988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di data latih keliru → model ikut keliru.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81928" y="3721608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4014216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33488" y="39959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usang (drift)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7333488" y="44988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berubah seiring waktu, data lama tak relevan.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DATA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dulu sebelum memodelkan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777240" cy="777240"/>
          </a:xfrm>
          <a:prstGeom prst="ellipse">
            <a:avLst/>
          </a:prstGeom>
          <a:solidFill>
            <a:srgbClr val="3BA6E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4" y="2257654"/>
            <a:ext cx="559613" cy="55961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Kenali datamu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1089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melatih model, luangkan waktu memahami data. Banyak masalah ketahuan di tahap ini.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9776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statistik ringkas (min, max, rata-rata)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distribusi tiap kolom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data kosong &amp; outlier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hubungan antar-fitur (korelasi)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82512" y="1828800"/>
            <a:ext cx="5166360" cy="3931920"/>
          </a:xfrm>
          <a:prstGeom prst="roundRect">
            <a:avLst>
              <a:gd name="adj" fmla="val 2791"/>
            </a:avLst>
          </a:prstGeom>
          <a:solidFill>
            <a:srgbClr val="E8F3FC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Prinsip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2606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“Kenali datamu seperti kamu mengenal temanmu.”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sederhana (histogram, scatter) sering lebih informatif daripada langsung melatih model.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3840480" cy="3840480"/>
          </a:xfrm>
          <a:prstGeom prst="ellipse">
            <a:avLst/>
          </a:prstGeom>
          <a:solidFill>
            <a:srgbClr val="6E56C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1FC7B0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86000"/>
            <a:ext cx="1371600" cy="1371600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67004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231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423160" y="26974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Menyiapkan data dengan Python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Alat: pandas &amp; scikit-learn  ·  Format: Jupyter Notebook / Google Colab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 (1/2) — muat, eksplor, bersihkan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4114800"/>
          </a:xfrm>
          <a:prstGeom prst="roundRect">
            <a:avLst>
              <a:gd name="adj" fmla="val 1778"/>
            </a:avLst>
          </a:prstGeom>
          <a:solidFill>
            <a:srgbClr val="0E1230"/>
          </a:solidFill>
          <a:ln w="12700">
            <a:solidFill>
              <a:srgbClr val="343A72"/>
            </a:solidFill>
            <a:prstDash val="solid"/>
          </a:ln>
          <a:effectLst>
            <a:outerShdw blurRad="101600" dist="38100" dir="5400000" algn="bl" rotWithShape="0">
              <a:srgbClr val="6A6FA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118872" cy="1188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984248"/>
            <a:ext cx="118872" cy="1188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984248"/>
            <a:ext cx="118872" cy="118872"/>
          </a:xfrm>
          <a:prstGeom prst="ellipse">
            <a:avLst/>
          </a:prstGeom>
          <a:solidFill>
            <a:srgbClr val="1FC7B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08760" y="1920240"/>
            <a:ext cx="9902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praktikum1.ipynb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331720"/>
            <a:ext cx="103144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E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Muat data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pd.read_csv("rumah.csv")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E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Lihat isi data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       # 5 baris pertama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    # tipe &amp; jumlah data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   # statistik ringkas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  # cek data kosong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E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Bersihkan data kosong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df["luas"] = df["luas"].fillna(df["luas"].median())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df.dropna(subset=["harga"])   # buang label kosong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 (2/2) — encoding, skala, pisah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4114800"/>
          </a:xfrm>
          <a:prstGeom prst="roundRect">
            <a:avLst>
              <a:gd name="adj" fmla="val 1778"/>
            </a:avLst>
          </a:prstGeom>
          <a:solidFill>
            <a:srgbClr val="0E1230"/>
          </a:solidFill>
          <a:ln w="12700">
            <a:solidFill>
              <a:srgbClr val="343A72"/>
            </a:solidFill>
            <a:prstDash val="solid"/>
          </a:ln>
          <a:effectLst>
            <a:outerShdw blurRad="101600" dist="38100" dir="5400000" algn="bl" rotWithShape="0">
              <a:srgbClr val="6A6FA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118872" cy="1188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984248"/>
            <a:ext cx="118872" cy="1188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984248"/>
            <a:ext cx="118872" cy="118872"/>
          </a:xfrm>
          <a:prstGeom prst="ellipse">
            <a:avLst/>
          </a:prstGeom>
          <a:solidFill>
            <a:srgbClr val="1FC7B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08760" y="1920240"/>
            <a:ext cx="9902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praktikum1.ipynb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331720"/>
            <a:ext cx="103144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MinMaxScaler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E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Encoding kolom kategorikal (kota)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pd.get_dummies(df, columns=["kota"])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E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5) Normalisasi kolom numerik ke skala 0-1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MinMaxScaler()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["luas", "kamar"]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df[num] = scaler.fit_transform(df[num])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E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6) Pisah fitur (X) dan label (y)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df.drop("harga", axis=1)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df["harga"]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DIKERJAKAN SETELAH PERTEMUAN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— Laporan Praktikum-1: Penyiapan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379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731520" cy="731520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2219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pengerjaan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971800"/>
            <a:ext cx="5852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1 dataset publik (mis. dari Kaggle/UCI) atau yang disediakan dosen.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data: statistik ringkas, cek data kosong &amp; outlier.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Bersihkan data, lakukan encoding kategorikal, dan normalisasi numerik.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minimal 1 fitur baru (feature engineering).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minimal 1 potensi jebakan data (data trap) pada datasetmu.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laporan singkat + lampirkan notebook (.ipynb).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452360" y="1783080"/>
            <a:ext cx="4096512" cy="3977640"/>
          </a:xfrm>
          <a:prstGeom prst="roundRect">
            <a:avLst>
              <a:gd name="adj" fmla="val 2759"/>
            </a:avLst>
          </a:prstGeom>
          <a:solidFill>
            <a:srgbClr val="EFEBFB"/>
          </a:solidFill>
          <a:ln/>
          <a:effectLst>
            <a:outerShdw blurRad="114300" dist="38100" dir="5400000" algn="bl" rotWithShape="0">
              <a:srgbClr val="9AA0C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18120" y="2103120"/>
            <a:ext cx="731520" cy="731520"/>
          </a:xfrm>
          <a:prstGeom prst="ellipse">
            <a:avLst/>
          </a:prstGeom>
          <a:solidFill>
            <a:srgbClr val="1FC7B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36" y="223113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8680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penilaian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909560" y="29718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Kelengkapan tahap penyiapan (30%)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Ketepatan encoding &amp; normalisasi (25%)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data trap (20%)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laporan &amp; kode (25%)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Kumpulkan: notebook + laporan (PDF)  ·  Tenggat: sebelum pertemuan 4  ·  Individu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3840480" cy="3840480"/>
          </a:xfrm>
          <a:prstGeom prst="ellipse">
            <a:avLst/>
          </a:prstGeom>
          <a:solidFill>
            <a:srgbClr val="6E56C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1FC7B0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05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perlu kamu ingat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908792" cy="896112"/>
          </a:xfrm>
          <a:prstGeom prst="roundRect">
            <a:avLst>
              <a:gd name="adj" fmla="val 10204"/>
            </a:avLst>
          </a:prstGeom>
          <a:solidFill>
            <a:srgbClr val="252A57"/>
          </a:solidFill>
          <a:ln w="12700">
            <a:solidFill>
              <a:srgbClr val="343A7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340864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103120"/>
            <a:ext cx="9537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hanya sebaik datanya — penyiapan data menyita porsi terbesar proyek ML.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10908792" cy="896112"/>
          </a:xfrm>
          <a:prstGeom prst="roundRect">
            <a:avLst>
              <a:gd name="adj" fmla="val 10204"/>
            </a:avLst>
          </a:prstGeom>
          <a:solidFill>
            <a:srgbClr val="252A57"/>
          </a:solidFill>
          <a:ln w="12700">
            <a:solidFill>
              <a:srgbClr val="343A7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38144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3200400"/>
            <a:ext cx="9537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numerik dinormalisasi; data kategorikal di-encoding (one-hot / ordinal).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297680"/>
            <a:ext cx="10908792" cy="896112"/>
          </a:xfrm>
          <a:prstGeom prst="roundRect">
            <a:avLst>
              <a:gd name="adj" fmla="val 10204"/>
            </a:avLst>
          </a:prstGeom>
          <a:solidFill>
            <a:srgbClr val="252A57"/>
          </a:solidFill>
          <a:ln w="12700">
            <a:solidFill>
              <a:srgbClr val="343A7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35424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4297680"/>
            <a:ext cx="9537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Rekayasa fitur membuat kolom baru yang lebih bermakna bagi model.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5394960"/>
            <a:ext cx="10908792" cy="896112"/>
          </a:xfrm>
          <a:prstGeom prst="roundRect">
            <a:avLst>
              <a:gd name="adj" fmla="val 10204"/>
            </a:avLst>
          </a:prstGeom>
          <a:solidFill>
            <a:srgbClr val="252A57"/>
          </a:solidFill>
          <a:ln w="12700">
            <a:solidFill>
              <a:srgbClr val="343A7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632704"/>
            <a:ext cx="420624" cy="42062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91640" y="5394960"/>
            <a:ext cx="9537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Waspadai jebakan data (leakage, bias, label salah, drift) sejak awal.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8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3840480" cy="3840480"/>
          </a:xfrm>
          <a:prstGeom prst="ellipse">
            <a:avLst/>
          </a:prstGeom>
          <a:solidFill>
            <a:srgbClr val="6E56C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1FC7B0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41264" y="1371600"/>
            <a:ext cx="1188720" cy="1188720"/>
          </a:xfrm>
          <a:prstGeom prst="ellipse">
            <a:avLst/>
          </a:prstGeom>
          <a:solidFill>
            <a:srgbClr val="6E56C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673352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743200"/>
            <a:ext cx="10360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rapi hari ini,</a:t>
            </a:r>
            <a:endParaRPr lang="en-US" sz="3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andal esok hari.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4348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F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pertanyaan?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 ·  Sampai jumpa di pertemuan berikutnya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Pertemuan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1908</Words>
  <Application>Microsoft Macintosh PowerPoint</Application>
  <PresentationFormat>Widescreen</PresentationFormat>
  <Paragraphs>327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Wagino FTI UNISKA</cp:lastModifiedBy>
  <cp:revision>2</cp:revision>
  <dcterms:created xsi:type="dcterms:W3CDTF">2026-09-12T05:10:38Z</dcterms:created>
  <dcterms:modified xsi:type="dcterms:W3CDTF">2026-09-13T11:10:32Z</dcterms:modified>
</cp:coreProperties>
</file>